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94958a3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94958a3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4d658d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94d658d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4d658d7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4d658d7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58b9d7541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58b9d7541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8b9d7541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8b9d7541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8b9d7541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58b9d7541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4d658d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94d658d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4958a35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4958a35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94d658d7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94d658d7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4d658d7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94d658d7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4958a35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94958a35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58b9d7541_10_0)">
  <p:cSld name="Generated (g3f58b9d7541_1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www.youtube.com/watch?v=RYsBgP-RwVI" TargetMode="External"/><Relationship Id="rId5" Type="http://schemas.openxmlformats.org/officeDocument/2006/relationships/hyperlink" Target="https://www.youtube.com/watch?v=RYsBgP-RwVI" TargetMode="External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4443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T06: API &amp; Contract Testing</a:t>
            </a:r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Group 07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Members: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Tran Tri Nhan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Cao Tran Ba Dat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Nguyen An Nghiep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311700" y="510850"/>
            <a:ext cx="85206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1685725"/>
            <a:ext cx="8520600" cy="30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API and Contract Testing: What &amp; Why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Tools for API and Contract Testing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API Testing live demo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Seminar activity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285750" y="238125"/>
            <a:ext cx="8572500" cy="809700"/>
            <a:chOff x="285750" y="238125"/>
            <a:chExt cx="8572500" cy="809700"/>
          </a:xfrm>
        </p:grpSpPr>
        <p:sp>
          <p:nvSpPr>
            <p:cNvPr id="71" name="Google Shape;71;p16"/>
            <p:cNvSpPr/>
            <p:nvPr/>
          </p:nvSpPr>
          <p:spPr>
            <a:xfrm>
              <a:off x="285750" y="238125"/>
              <a:ext cx="8572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 txBox="1"/>
            <p:nvPr/>
          </p:nvSpPr>
          <p:spPr>
            <a:xfrm>
              <a:off x="285750" y="238125"/>
              <a:ext cx="857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Introduction to </a:t>
              </a: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API Testing</a:t>
              </a:r>
              <a:endParaRPr b="1" sz="11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 txBox="1"/>
            <p:nvPr/>
          </p:nvSpPr>
          <p:spPr>
            <a:xfrm>
              <a:off x="285750" y="476250"/>
              <a:ext cx="857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API Testing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6"/>
          <p:cNvSpPr/>
          <p:nvPr/>
        </p:nvSpPr>
        <p:spPr>
          <a:xfrm>
            <a:off x="285750" y="899250"/>
            <a:ext cx="3952800" cy="3978000"/>
          </a:xfrm>
          <a:prstGeom prst="roundRect">
            <a:avLst>
              <a:gd fmla="val 5161" name="adj"/>
            </a:avLst>
          </a:prstGeom>
          <a:solidFill>
            <a:srgbClr val="FFFFFF">
              <a:alpha val="8000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428625" y="1047825"/>
            <a:ext cx="3667200" cy="3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What is API Testing?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Arial"/>
              <a:buChar char="●"/>
            </a:pPr>
            <a:r>
              <a:rPr b="1" lang="en" sz="1225">
                <a:solidFill>
                  <a:srgbClr val="1E293B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</a:t>
            </a:r>
            <a:r>
              <a:rPr lang="en" sz="1200">
                <a:solidFill>
                  <a:srgbClr val="0265D2"/>
                </a:solidFill>
                <a:highlight>
                  <a:srgbClr val="FFFFFF"/>
                </a:highlight>
                <a:uFill>
                  <a:noFill/>
                </a:uFill>
                <a:latin typeface="Meiryo"/>
                <a:ea typeface="Meiryo"/>
                <a:cs typeface="Meiryo"/>
                <a:sym typeface="Meiry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25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Meiryo"/>
                <a:ea typeface="Meiryo"/>
                <a:cs typeface="Meiryo"/>
                <a:sym typeface="Meiryo"/>
              </a:rPr>
              <a:t> </a:t>
            </a:r>
            <a:r>
              <a:rPr lang="en" sz="1225">
                <a:solidFill>
                  <a:srgbClr val="475569"/>
                </a:solidFill>
              </a:rPr>
              <a:t>is a process that confirms an API is working as expected. There are several types of API tests, and each one plays a distinct role in</a:t>
            </a: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Meiryo"/>
                <a:ea typeface="Meiryo"/>
                <a:cs typeface="Meiryo"/>
                <a:sym typeface="Meiryo"/>
              </a:rPr>
              <a:t> ensuring</a:t>
            </a:r>
            <a:r>
              <a:rPr b="1" lang="en" sz="1225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Meiryo"/>
                <a:ea typeface="Meiryo"/>
                <a:cs typeface="Meiryo"/>
                <a:sym typeface="Meiryo"/>
              </a:rPr>
              <a:t>that the API's functionality, security, and performance remain reliable.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225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Why do we need API Testing? 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l"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Early Bug Detection (Shift-Left):</a:t>
            </a:r>
            <a:r>
              <a:rPr lang="en" sz="1100">
                <a:solidFill>
                  <a:schemeClr val="dk1"/>
                </a:solidFill>
              </a:rPr>
              <a:t> Tests backend logic as soon as endpoints are built, long before the UI is ready. </a:t>
            </a:r>
            <a:endParaRPr sz="1225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rtl="0" algn="l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Speed &amp; Cost Efficiency:</a:t>
            </a:r>
            <a:r>
              <a:rPr lang="en" sz="1100">
                <a:solidFill>
                  <a:schemeClr val="dk1"/>
                </a:solidFill>
              </a:rPr>
              <a:t> Execution is significantly faster than UI testing, reducing maintenance effort and test automation costs.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Broader Test Coverage:</a:t>
            </a:r>
            <a:r>
              <a:rPr lang="en" sz="1100">
                <a:solidFill>
                  <a:schemeClr val="dk1"/>
                </a:solidFill>
              </a:rPr>
              <a:t> Easily simulates edge cases, malicious inputs, and system failure responses that are hard to trigger via UI.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75950" y="3123675"/>
            <a:ext cx="3952800" cy="1753500"/>
          </a:xfrm>
          <a:prstGeom prst="roundRect">
            <a:avLst>
              <a:gd fmla="val 5161" name="adj"/>
            </a:avLst>
          </a:prstGeom>
          <a:solidFill>
            <a:srgbClr val="FFFFFF">
              <a:alpha val="8000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918750" y="3317943"/>
            <a:ext cx="36672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What if we DON'T have API Testing?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225">
                <a:solidFill>
                  <a:srgbClr val="475569"/>
                </a:solidFill>
              </a:rPr>
              <a:t>Critical logic and security vulnerabilities remain undetected, significantly increasing debugging complexity during UI integration. Consequently, minor backend modifications can unexpectedly break frontend functionality.</a:t>
            </a: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3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8975" y="792225"/>
            <a:ext cx="4069775" cy="21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5" name="Google Shape;85;p17"/>
          <p:cNvGrpSpPr/>
          <p:nvPr/>
        </p:nvGrpSpPr>
        <p:grpSpPr>
          <a:xfrm>
            <a:off x="285750" y="238125"/>
            <a:ext cx="8572500" cy="809700"/>
            <a:chOff x="285750" y="238125"/>
            <a:chExt cx="8572500" cy="809700"/>
          </a:xfrm>
        </p:grpSpPr>
        <p:sp>
          <p:nvSpPr>
            <p:cNvPr id="86" name="Google Shape;86;p17"/>
            <p:cNvSpPr/>
            <p:nvPr/>
          </p:nvSpPr>
          <p:spPr>
            <a:xfrm>
              <a:off x="285750" y="238125"/>
              <a:ext cx="8572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285750" y="238125"/>
              <a:ext cx="857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Introduction to </a:t>
              </a: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Contract</a:t>
              </a: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 Testin</a:t>
              </a: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sz="11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7"/>
            <p:cNvSpPr txBox="1"/>
            <p:nvPr/>
          </p:nvSpPr>
          <p:spPr>
            <a:xfrm>
              <a:off x="285750" y="476250"/>
              <a:ext cx="857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Contract</a:t>
              </a: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Testing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7"/>
          <p:cNvSpPr/>
          <p:nvPr/>
        </p:nvSpPr>
        <p:spPr>
          <a:xfrm>
            <a:off x="285750" y="899250"/>
            <a:ext cx="3952800" cy="3978000"/>
          </a:xfrm>
          <a:prstGeom prst="roundRect">
            <a:avLst>
              <a:gd fmla="val 5161" name="adj"/>
            </a:avLst>
          </a:prstGeom>
          <a:solidFill>
            <a:srgbClr val="FFFFFF">
              <a:alpha val="8000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428625" y="1047825"/>
            <a:ext cx="3667200" cy="3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 Testing?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388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</a:rPr>
              <a:t>Contract testing is a technique that verifies the data agreement (Contract) on requests and responses between a service consumer and a service provider, without requiring full end-to-end environment setups. </a:t>
            </a:r>
            <a:endParaRPr sz="1225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Why do we need API Testing? 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Ideal for Microservices:</a:t>
            </a:r>
            <a:r>
              <a:rPr lang="en" sz="1100">
                <a:solidFill>
                  <a:schemeClr val="dk1"/>
                </a:solidFill>
              </a:rPr>
              <a:t> Ensures dozens of independent services communicate smoothly without data mismatch.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Decoupled Testing:</a:t>
            </a:r>
            <a:r>
              <a:rPr lang="en" sz="1100">
                <a:solidFill>
                  <a:schemeClr val="dk1"/>
                </a:solidFill>
              </a:rPr>
              <a:t> Allows Consumers and Providers to test their integrations independently without relying on flaky shared environments.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</a:rPr>
              <a:t>Instant Catch of Breaking Changes:</a:t>
            </a:r>
            <a:r>
              <a:rPr lang="en" sz="1100">
                <a:solidFill>
                  <a:schemeClr val="dk1"/>
                </a:solidFill>
              </a:rPr>
              <a:t> Automatically flags schema changes (e.g., renamed fields, missing parameters) before code hits production.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657475" y="3123675"/>
            <a:ext cx="4071300" cy="1753500"/>
          </a:xfrm>
          <a:prstGeom prst="roundRect">
            <a:avLst>
              <a:gd fmla="val 5161" name="adj"/>
            </a:avLst>
          </a:prstGeom>
          <a:solidFill>
            <a:srgbClr val="FFFFFF">
              <a:alpha val="8000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4918750" y="3478424"/>
            <a:ext cx="3667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rPr>
              <a:t>What if we DON'T have API Testing?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225">
                <a:solidFill>
                  <a:srgbClr val="475569"/>
                </a:solidFill>
              </a:rPr>
              <a:t>Everything works fine in isolated local environments, but breaks during integration testing due to payload mismatches. Integration environments become the ultimate bottleneck, severely delaying releases. </a:t>
            </a:r>
            <a:endParaRPr b="1" sz="1300">
              <a:solidFill>
                <a:srgbClr val="EF5B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3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600" y="899250"/>
            <a:ext cx="4385026" cy="17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80" l="0" r="0" t="80"/>
          <a:stretch/>
        </p:blipFill>
        <p:spPr>
          <a:xfrm>
            <a:off x="0" y="-58425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8"/>
          <p:cNvGrpSpPr/>
          <p:nvPr/>
        </p:nvGrpSpPr>
        <p:grpSpPr>
          <a:xfrm>
            <a:off x="285750" y="238125"/>
            <a:ext cx="8572500" cy="809700"/>
            <a:chOff x="285750" y="238125"/>
            <a:chExt cx="8572500" cy="809700"/>
          </a:xfrm>
        </p:grpSpPr>
        <p:sp>
          <p:nvSpPr>
            <p:cNvPr id="100" name="Google Shape;100;p18"/>
            <p:cNvSpPr/>
            <p:nvPr/>
          </p:nvSpPr>
          <p:spPr>
            <a:xfrm>
              <a:off x="285750" y="238125"/>
              <a:ext cx="8572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285750" y="238125"/>
              <a:ext cx="857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Introduction to Postman</a:t>
              </a:r>
              <a:endParaRPr b="1" sz="11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8"/>
            <p:cNvSpPr txBox="1"/>
            <p:nvPr/>
          </p:nvSpPr>
          <p:spPr>
            <a:xfrm>
              <a:off x="285750" y="476250"/>
              <a:ext cx="857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Postman: A Powerful Tool for API Testing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8"/>
          <p:cNvGrpSpPr/>
          <p:nvPr/>
        </p:nvGrpSpPr>
        <p:grpSpPr>
          <a:xfrm>
            <a:off x="285750" y="1095367"/>
            <a:ext cx="3952800" cy="1990495"/>
            <a:chOff x="285750" y="1095375"/>
            <a:chExt cx="3952800" cy="1476300"/>
          </a:xfrm>
        </p:grpSpPr>
        <p:sp>
          <p:nvSpPr>
            <p:cNvPr id="104" name="Google Shape;104;p18"/>
            <p:cNvSpPr/>
            <p:nvPr/>
          </p:nvSpPr>
          <p:spPr>
            <a:xfrm>
              <a:off x="285750" y="1095375"/>
              <a:ext cx="3952800" cy="1476300"/>
            </a:xfrm>
            <a:prstGeom prst="roundRect">
              <a:avLst>
                <a:gd fmla="val 5161" name="adj"/>
              </a:avLst>
            </a:prstGeom>
            <a:solidFill>
              <a:srgbClr val="FFFFFF">
                <a:alpha val="80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8"/>
            <p:cNvSpPr txBox="1"/>
            <p:nvPr/>
          </p:nvSpPr>
          <p:spPr>
            <a:xfrm>
              <a:off x="428625" y="1190625"/>
              <a:ext cx="3667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What is Postman?</a:t>
              </a:r>
              <a:endParaRPr b="1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 leading popular platform that helps build, develop, and test APIs easily and intuitively.</a:t>
              </a:r>
              <a:endParaRPr sz="12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225">
                <a:solidFill>
                  <a:srgbClr val="475569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Core Features</a:t>
              </a:r>
              <a:endParaRPr b="1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638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225"/>
                <a:buFont typeface="Arial"/>
                <a:buChar char="●"/>
              </a:pPr>
              <a:r>
                <a:rPr b="1" lang="en" sz="1225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Create &amp; Send Requests:</a:t>
              </a:r>
              <a:r>
                <a:rPr lang="en" sz="12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Supports REST, GraphQL, gRPC, WebSocket...</a:t>
              </a:r>
              <a:endParaRPr sz="12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638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225"/>
                <a:buFont typeface="Arial"/>
                <a:buChar char="●"/>
              </a:pPr>
              <a:r>
                <a:rPr b="1" lang="en" sz="1225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Manage Collections:</a:t>
              </a:r>
              <a:r>
                <a:rPr lang="en" sz="12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Group, organize, and share API requests.</a:t>
              </a:r>
              <a:endParaRPr sz="13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18"/>
          <p:cNvGrpSpPr/>
          <p:nvPr/>
        </p:nvGrpSpPr>
        <p:grpSpPr>
          <a:xfrm>
            <a:off x="436050" y="3402759"/>
            <a:ext cx="3952800" cy="1219528"/>
            <a:chOff x="285750" y="2033350"/>
            <a:chExt cx="3952800" cy="1824275"/>
          </a:xfrm>
        </p:grpSpPr>
        <p:sp>
          <p:nvSpPr>
            <p:cNvPr id="107" name="Google Shape;107;p18"/>
            <p:cNvSpPr/>
            <p:nvPr/>
          </p:nvSpPr>
          <p:spPr>
            <a:xfrm>
              <a:off x="285750" y="2714625"/>
              <a:ext cx="3952800" cy="11430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80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285750" y="2033350"/>
              <a:ext cx="3667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Advanced Testing &amp; Integration</a:t>
              </a:r>
              <a:endParaRPr b="1" sz="13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638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225"/>
                <a:buFont typeface="Arial"/>
                <a:buChar char="●"/>
              </a:pPr>
              <a:r>
                <a:rPr b="1" lang="en" sz="1225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Automated Testing:</a:t>
              </a:r>
              <a:r>
                <a:rPr lang="en" sz="12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Built-in JS script execution environment to write test cases (Pre-request scripts &amp; Tests).</a:t>
              </a:r>
              <a:endParaRPr sz="12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638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225"/>
                <a:buFont typeface="Arial"/>
                <a:buChar char="●"/>
              </a:pPr>
              <a:r>
                <a:rPr b="1" lang="en" sz="1225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CI/CD Integration:</a:t>
              </a:r>
              <a:r>
                <a:rPr lang="en" sz="12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Run automated tests in pipeline via Postman CLI or Newman tool.</a:t>
              </a:r>
              <a:endParaRPr sz="12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18"/>
          <p:cNvGrpSpPr/>
          <p:nvPr/>
        </p:nvGrpSpPr>
        <p:grpSpPr>
          <a:xfrm>
            <a:off x="4388987" y="1095428"/>
            <a:ext cx="4469881" cy="3527032"/>
            <a:chOff x="4524375" y="1095375"/>
            <a:chExt cx="4333800" cy="2762400"/>
          </a:xfrm>
        </p:grpSpPr>
        <p:sp>
          <p:nvSpPr>
            <p:cNvPr id="110" name="Google Shape;110;p18"/>
            <p:cNvSpPr/>
            <p:nvPr/>
          </p:nvSpPr>
          <p:spPr>
            <a:xfrm>
              <a:off x="4524375" y="1095375"/>
              <a:ext cx="4333800" cy="2762400"/>
            </a:xfrm>
            <a:prstGeom prst="roundRect">
              <a:avLst>
                <a:gd fmla="val 2758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" name="Google Shape;111;p18"/>
            <p:cNvCxnSpPr/>
            <p:nvPr/>
          </p:nvCxnSpPr>
          <p:spPr>
            <a:xfrm>
              <a:off x="4524375" y="1666875"/>
              <a:ext cx="4333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18"/>
            <p:cNvCxnSpPr/>
            <p:nvPr/>
          </p:nvCxnSpPr>
          <p:spPr>
            <a:xfrm>
              <a:off x="4524375" y="2381250"/>
              <a:ext cx="4333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18"/>
            <p:cNvCxnSpPr/>
            <p:nvPr/>
          </p:nvCxnSpPr>
          <p:spPr>
            <a:xfrm>
              <a:off x="4524375" y="3095625"/>
              <a:ext cx="4333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18"/>
            <p:cNvSpPr txBox="1"/>
            <p:nvPr/>
          </p:nvSpPr>
          <p:spPr>
            <a:xfrm>
              <a:off x="4619623" y="119063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Criteria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" name="Google Shape;115;p18"/>
            <p:cNvGrpSpPr/>
            <p:nvPr/>
          </p:nvGrpSpPr>
          <p:grpSpPr>
            <a:xfrm>
              <a:off x="5905500" y="1171575"/>
              <a:ext cx="228600" cy="228600"/>
              <a:chOff x="0" y="0"/>
              <a:chExt cx="228600" cy="228600"/>
            </a:xfrm>
          </p:grpSpPr>
          <p:sp>
            <p:nvSpPr>
              <p:cNvPr id="116" name="Google Shape;116;p18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F5B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ostman flat minimal orange vector logo icon" id="117" name="Google Shape;117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228600" cy="2286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118" name="Google Shape;118;p18"/>
            <p:cNvSpPr txBox="1"/>
            <p:nvPr/>
          </p:nvSpPr>
          <p:spPr>
            <a:xfrm>
              <a:off x="6191250" y="1190625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Postman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" name="Google Shape;119;p18"/>
            <p:cNvGrpSpPr/>
            <p:nvPr/>
          </p:nvGrpSpPr>
          <p:grpSpPr>
            <a:xfrm>
              <a:off x="7048500" y="1171575"/>
              <a:ext cx="228600" cy="228600"/>
              <a:chOff x="0" y="0"/>
              <a:chExt cx="228600" cy="228600"/>
            </a:xfrm>
          </p:grpSpPr>
          <p:sp>
            <p:nvSpPr>
              <p:cNvPr id="120" name="Google Shape;120;p18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Java RestAssured testing library vector logo icon" id="121" name="Google Shape;121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228600" cy="2286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122" name="Google Shape;122;p18"/>
            <p:cNvSpPr txBox="1"/>
            <p:nvPr/>
          </p:nvSpPr>
          <p:spPr>
            <a:xfrm>
              <a:off x="7160705" y="1190630"/>
              <a:ext cx="84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RestAssured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18"/>
            <p:cNvGrpSpPr/>
            <p:nvPr/>
          </p:nvGrpSpPr>
          <p:grpSpPr>
            <a:xfrm>
              <a:off x="8048625" y="1171575"/>
              <a:ext cx="228600" cy="228600"/>
              <a:chOff x="0" y="0"/>
              <a:chExt cx="228600" cy="228600"/>
            </a:xfrm>
          </p:grpSpPr>
          <p:sp>
            <p:nvSpPr>
              <p:cNvPr id="124" name="Google Shape;124;p18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Karate DSL test automation framework green vector logo icon" id="125" name="Google Shape;125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0"/>
                <a:ext cx="228600" cy="2286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  <p:sp>
          <p:nvSpPr>
            <p:cNvPr id="126" name="Google Shape;126;p18"/>
            <p:cNvSpPr txBox="1"/>
            <p:nvPr/>
          </p:nvSpPr>
          <p:spPr>
            <a:xfrm>
              <a:off x="8208457" y="1190630"/>
              <a:ext cx="60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Karate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4619623" y="1762118"/>
              <a:ext cx="952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Learning Curve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5810250" y="1762125"/>
              <a:ext cx="1095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Easy</a:t>
              </a:r>
              <a:endParaRPr b="1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(Intuitive UI, Low-code)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7000875" y="1762125"/>
              <a:ext cx="952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Hard</a:t>
              </a:r>
              <a:endParaRPr b="1" sz="1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(Requires Java/Coding)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8048625" y="1762125"/>
              <a:ext cx="76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Medium</a:t>
              </a:r>
              <a:endParaRPr b="1" sz="1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(Uses Gherkin syntax)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4619623" y="2476501"/>
              <a:ext cx="952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Cost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5810250" y="2476500"/>
              <a:ext cx="1095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Freemium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(Paid for Team/Ent.)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7000875" y="2476500"/>
              <a:ext cx="952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Free</a:t>
              </a:r>
              <a:endParaRPr b="1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(Open Source)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8048625" y="2476500"/>
              <a:ext cx="76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Free</a:t>
              </a:r>
              <a:endParaRPr b="1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(Open Source)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4619623" y="319086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Community Support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5810250" y="3190875"/>
              <a:ext cx="1095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Very large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Rich documentation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7000875" y="3190875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Large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Especially Java teams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8048625" y="3190875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Growing strongly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Active QA/QC adoption</a:t>
              </a:r>
              <a:endParaRPr sz="6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80" l="0" r="0" t="8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9"/>
          <p:cNvGrpSpPr/>
          <p:nvPr/>
        </p:nvGrpSpPr>
        <p:grpSpPr>
          <a:xfrm>
            <a:off x="285750" y="238125"/>
            <a:ext cx="8572500" cy="657300"/>
            <a:chOff x="0" y="0"/>
            <a:chExt cx="8572500" cy="657300"/>
          </a:xfrm>
        </p:grpSpPr>
        <p:sp>
          <p:nvSpPr>
            <p:cNvPr id="145" name="Google Shape;145;p19"/>
            <p:cNvSpPr txBox="1"/>
            <p:nvPr/>
          </p:nvSpPr>
          <p:spPr>
            <a:xfrm>
              <a:off x="0" y="0"/>
              <a:ext cx="857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AI in Postman (Postbot)</a:t>
              </a:r>
              <a:endParaRPr b="1" sz="11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0" y="228600"/>
              <a:ext cx="857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Postbot: AI Assistant for API Testing</a:t>
              </a:r>
              <a:endParaRPr b="1" sz="2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285750" y="1095375"/>
            <a:ext cx="4857900" cy="3619500"/>
            <a:chOff x="0" y="0"/>
            <a:chExt cx="4857900" cy="3619500"/>
          </a:xfrm>
        </p:grpSpPr>
        <p:sp>
          <p:nvSpPr>
            <p:cNvPr id="148" name="Google Shape;148;p19"/>
            <p:cNvSpPr/>
            <p:nvPr/>
          </p:nvSpPr>
          <p:spPr>
            <a:xfrm>
              <a:off x="0" y="0"/>
              <a:ext cx="4857900" cy="3619500"/>
            </a:xfrm>
            <a:prstGeom prst="roundRect">
              <a:avLst>
                <a:gd fmla="val 2631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19"/>
            <p:cNvGrpSpPr/>
            <p:nvPr/>
          </p:nvGrpSpPr>
          <p:grpSpPr>
            <a:xfrm>
              <a:off x="238125" y="190500"/>
              <a:ext cx="4381500" cy="666750"/>
              <a:chOff x="0" y="0"/>
              <a:chExt cx="4381500" cy="666750"/>
            </a:xfrm>
          </p:grpSpPr>
          <p:sp>
            <p:nvSpPr>
              <p:cNvPr id="150" name="Google Shape;150;p19"/>
              <p:cNvSpPr txBox="1"/>
              <p:nvPr/>
            </p:nvSpPr>
            <p:spPr>
              <a:xfrm>
                <a:off x="0" y="0"/>
                <a:ext cx="4381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F5B25"/>
                    </a:solidFill>
                    <a:latin typeface="Arial"/>
                    <a:ea typeface="Arial"/>
                    <a:cs typeface="Arial"/>
                    <a:sym typeface="Arial"/>
                  </a:rPr>
                  <a:t>What is Postbot?</a:t>
                </a:r>
                <a:endParaRPr b="1" sz="13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9"/>
              <p:cNvSpPr txBox="1"/>
              <p:nvPr/>
            </p:nvSpPr>
            <p:spPr>
              <a:xfrm>
                <a:off x="0" y="247650"/>
                <a:ext cx="438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An AI assistant integrated directly into Postman, helping to automate and simplify API-related tasks.</a:t>
                </a:r>
                <a:endParaRPr b="0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2" name="Google Shape;152;p19"/>
            <p:cNvCxnSpPr/>
            <p:nvPr/>
          </p:nvCxnSpPr>
          <p:spPr>
            <a:xfrm>
              <a:off x="238125" y="1000125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" name="Google Shape;153;p19"/>
            <p:cNvGrpSpPr/>
            <p:nvPr/>
          </p:nvGrpSpPr>
          <p:grpSpPr>
            <a:xfrm>
              <a:off x="238125" y="1066713"/>
              <a:ext cx="4381500" cy="2314813"/>
              <a:chOff x="0" y="-76287"/>
              <a:chExt cx="4381500" cy="2314813"/>
            </a:xfrm>
          </p:grpSpPr>
          <p:grpSp>
            <p:nvGrpSpPr>
              <p:cNvPr id="154" name="Google Shape;154;p19"/>
              <p:cNvGrpSpPr/>
              <p:nvPr/>
            </p:nvGrpSpPr>
            <p:grpSpPr>
              <a:xfrm>
                <a:off x="0" y="-76275"/>
                <a:ext cx="2095500" cy="1124175"/>
                <a:chOff x="0" y="-76275"/>
                <a:chExt cx="2095500" cy="1124175"/>
              </a:xfrm>
            </p:grpSpPr>
            <p:sp>
              <p:nvSpPr>
                <p:cNvPr id="155" name="Google Shape;155;p19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9"/>
                <p:cNvSpPr txBox="1"/>
                <p:nvPr/>
              </p:nvSpPr>
              <p:spPr>
                <a:xfrm>
                  <a:off x="142875" y="-76275"/>
                  <a:ext cx="1809600" cy="81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1E293B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Auto-generate Tests</a:t>
                  </a:r>
                  <a:endParaRPr b="1" sz="12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2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Describe in natural language prompts to automatically write test code snippets (e.g., status checks, variable saving).</a:t>
                  </a:r>
                  <a:endParaRPr b="0" sz="12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" name="Google Shape;157;p19"/>
              <p:cNvGrpSpPr/>
              <p:nvPr/>
            </p:nvGrpSpPr>
            <p:grpSpPr>
              <a:xfrm>
                <a:off x="2231875" y="-76287"/>
                <a:ext cx="2095500" cy="1052675"/>
                <a:chOff x="-54125" y="-76287"/>
                <a:chExt cx="2095500" cy="1052675"/>
              </a:xfrm>
            </p:grpSpPr>
            <p:sp>
              <p:nvSpPr>
                <p:cNvPr id="158" name="Google Shape;158;p19"/>
                <p:cNvSpPr/>
                <p:nvPr/>
              </p:nvSpPr>
              <p:spPr>
                <a:xfrm>
                  <a:off x="-54125" y="-71512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19"/>
                <p:cNvSpPr txBox="1"/>
                <p:nvPr/>
              </p:nvSpPr>
              <p:spPr>
                <a:xfrm>
                  <a:off x="88825" y="-76287"/>
                  <a:ext cx="1809600" cy="81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1E293B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Auto-documentation</a:t>
                  </a:r>
                  <a:endParaRPr b="1" sz="12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2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Instantly create detailed descriptions, parameters, and structured examples based on raw API data.</a:t>
                  </a:r>
                  <a:endParaRPr b="0" sz="12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0" name="Google Shape;160;p19"/>
              <p:cNvGrpSpPr/>
              <p:nvPr/>
            </p:nvGrpSpPr>
            <p:grpSpPr>
              <a:xfrm>
                <a:off x="0" y="1190625"/>
                <a:ext cx="2095500" cy="1047900"/>
                <a:chOff x="0" y="0"/>
                <a:chExt cx="2095500" cy="1047900"/>
              </a:xfrm>
            </p:grpSpPr>
            <p:sp>
              <p:nvSpPr>
                <p:cNvPr id="161" name="Google Shape;161;p19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19"/>
                <p:cNvSpPr txBox="1"/>
                <p:nvPr/>
              </p:nvSpPr>
              <p:spPr>
                <a:xfrm>
                  <a:off x="142875" y="114300"/>
                  <a:ext cx="1809600" cy="81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1E293B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Visualize Data</a:t>
                  </a:r>
                  <a:endParaRPr b="1" sz="12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2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Transform dry, complex JSON response payloads into intuitive, beautiful charts and tables with a single command.</a:t>
                  </a:r>
                  <a:endParaRPr b="0" sz="12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" name="Google Shape;163;p19"/>
              <p:cNvGrpSpPr/>
              <p:nvPr/>
            </p:nvGrpSpPr>
            <p:grpSpPr>
              <a:xfrm>
                <a:off x="2286000" y="1190625"/>
                <a:ext cx="2095500" cy="1047900"/>
                <a:chOff x="0" y="0"/>
                <a:chExt cx="2095500" cy="1047900"/>
              </a:xfrm>
            </p:grpSpPr>
            <p:sp>
              <p:nvSpPr>
                <p:cNvPr id="164" name="Google Shape;164;p19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" name="Google Shape;165;p19"/>
                <p:cNvSpPr txBox="1"/>
                <p:nvPr/>
              </p:nvSpPr>
              <p:spPr>
                <a:xfrm>
                  <a:off x="142875" y="114300"/>
                  <a:ext cx="1809600" cy="81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1E293B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Debugging Support</a:t>
                  </a:r>
                  <a:endParaRPr b="1" sz="12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2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Analyze failures instantly and get smart recommendations (Quick Fix) to successfully run your API requests.</a:t>
                  </a:r>
                  <a:endParaRPr b="0" sz="12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166" name="Google Shape;16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650" y="1580725"/>
            <a:ext cx="3538125" cy="286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80" l="0" r="0" t="8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0"/>
          <p:cNvGrpSpPr/>
          <p:nvPr/>
        </p:nvGrpSpPr>
        <p:grpSpPr>
          <a:xfrm>
            <a:off x="285750" y="238125"/>
            <a:ext cx="8572500" cy="657300"/>
            <a:chOff x="285750" y="238125"/>
            <a:chExt cx="8572500" cy="657300"/>
          </a:xfrm>
        </p:grpSpPr>
        <p:sp>
          <p:nvSpPr>
            <p:cNvPr id="173" name="Google Shape;173;p20"/>
            <p:cNvSpPr txBox="1"/>
            <p:nvPr/>
          </p:nvSpPr>
          <p:spPr>
            <a:xfrm>
              <a:off x="285750" y="238125"/>
              <a:ext cx="857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Brief Introduction to Pact (Contract Testing)</a:t>
              </a:r>
              <a:endParaRPr b="1" sz="11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285750" y="466725"/>
              <a:ext cx="857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Pact: Guaranteeing API Compatibility </a:t>
              </a:r>
              <a:endParaRPr b="1" sz="2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285750" y="1095375"/>
            <a:ext cx="4381500" cy="3619500"/>
            <a:chOff x="285750" y="1095375"/>
            <a:chExt cx="4381500" cy="3619500"/>
          </a:xfrm>
        </p:grpSpPr>
        <p:sp>
          <p:nvSpPr>
            <p:cNvPr id="176" name="Google Shape;176;p20"/>
            <p:cNvSpPr/>
            <p:nvPr/>
          </p:nvSpPr>
          <p:spPr>
            <a:xfrm>
              <a:off x="285750" y="1095375"/>
              <a:ext cx="4381500" cy="3619500"/>
            </a:xfrm>
            <a:prstGeom prst="roundRect">
              <a:avLst>
                <a:gd fmla="val 2631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476250" y="1285875"/>
              <a:ext cx="4000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What is Pact?</a:t>
              </a:r>
              <a:endParaRPr b="1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Pact is the leading open-source tool today for </a:t>
              </a: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Consumer-Driven Contract Testing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F5B25"/>
                  </a:solidFill>
                  <a:latin typeface="Arial"/>
                  <a:ea typeface="Arial"/>
                  <a:cs typeface="Arial"/>
                  <a:sym typeface="Arial"/>
                </a:rPr>
                <a:t>Core Role &amp; Benefits</a:t>
              </a:r>
              <a:endParaRPr b="1" sz="1400">
                <a:solidFill>
                  <a:srgbClr val="EF5B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SzPts val="1200"/>
                <a:buChar char="●"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Replaces slow and expensive integrated (End-to-End) tests with </a:t>
              </a: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fast, independent unit tests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SzPts val="1200"/>
                <a:buChar char="●"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Helps the Consumer (API caller) and Provider (API provider) agree on a shared </a:t>
              </a: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"Contract"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750"/>
                </a:spcAft>
                <a:buSzPts val="1200"/>
                <a:buChar char="●"/>
              </a:pP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Ensures both sides remain compatible, </a:t>
              </a: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preventing breaking changes</a:t>
              </a:r>
              <a:r>
                <a:rPr b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to the API without prior notice.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4857750" y="1095375"/>
            <a:ext cx="4000500" cy="3619500"/>
            <a:chOff x="4857750" y="1095375"/>
            <a:chExt cx="4000500" cy="3619500"/>
          </a:xfrm>
        </p:grpSpPr>
        <p:sp>
          <p:nvSpPr>
            <p:cNvPr id="179" name="Google Shape;179;p20"/>
            <p:cNvSpPr/>
            <p:nvPr/>
          </p:nvSpPr>
          <p:spPr>
            <a:xfrm>
              <a:off x="4857750" y="1095375"/>
              <a:ext cx="4000500" cy="3619500"/>
            </a:xfrm>
            <a:prstGeom prst="roundRect">
              <a:avLst>
                <a:gd fmla="val 2631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5476875" y="2047875"/>
              <a:ext cx="381000" cy="381000"/>
            </a:xfrm>
            <a:prstGeom prst="ellipse">
              <a:avLst/>
            </a:prstGeom>
            <a:solidFill>
              <a:srgbClr val="FF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20"/>
            <p:cNvGrpSpPr/>
            <p:nvPr/>
          </p:nvGrpSpPr>
          <p:grpSpPr>
            <a:xfrm>
              <a:off x="5191050" y="3045850"/>
              <a:ext cx="3333900" cy="857400"/>
              <a:chOff x="5191050" y="3045850"/>
              <a:chExt cx="3333900" cy="857400"/>
            </a:xfrm>
          </p:grpSpPr>
          <p:sp>
            <p:nvSpPr>
              <p:cNvPr id="182" name="Google Shape;182;p20"/>
              <p:cNvSpPr/>
              <p:nvPr/>
            </p:nvSpPr>
            <p:spPr>
              <a:xfrm>
                <a:off x="5191050" y="3045850"/>
                <a:ext cx="3333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DCFCE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0"/>
              <p:cNvSpPr txBox="1"/>
              <p:nvPr/>
            </p:nvSpPr>
            <p:spPr>
              <a:xfrm>
                <a:off x="5280450" y="3045850"/>
                <a:ext cx="3048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71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Key Takeaway</a:t>
                </a:r>
                <a:endParaRPr b="1" sz="1271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71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By verifying the contract independently on both sides, Pact detects breaking API changes instantly without deploying complete end-to-end environments.</a:t>
                </a:r>
                <a:endParaRPr sz="1271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450" y="1804724"/>
            <a:ext cx="3155099" cy="6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ctrTitle"/>
          </p:nvPr>
        </p:nvSpPr>
        <p:spPr>
          <a:xfrm>
            <a:off x="311700" y="453925"/>
            <a:ext cx="85206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311700" y="1562425"/>
            <a:ext cx="85206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What will be covered: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End-to-end scenario on coupon flow with Postman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CI with Postman &amp; GitHub Actions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Collection and test scripts scaffold with AI assistance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ctrTitle"/>
          </p:nvPr>
        </p:nvSpPr>
        <p:spPr>
          <a:xfrm>
            <a:off x="311708" y="4669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Testing Activity</a:t>
            </a:r>
            <a:endParaRPr/>
          </a:p>
        </p:txBody>
      </p:sp>
      <p:sp>
        <p:nvSpPr>
          <p:cNvPr id="197" name="Google Shape;197;p22"/>
          <p:cNvSpPr txBox="1"/>
          <p:nvPr>
            <p:ph idx="1" type="subTitle"/>
          </p:nvPr>
        </p:nvSpPr>
        <p:spPr>
          <a:xfrm>
            <a:off x="346950" y="1716025"/>
            <a:ext cx="4078800" cy="29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Postman activity: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Run endpoints manually.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Copy auth data between requests.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Add negative-case assertions.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Catch hidden validation bugs.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963100" y="1716025"/>
            <a:ext cx="3953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AI activity: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Prompt AI with API docs.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Generate collection and tests.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Review and run generated tests.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Reuse saved variables automatically.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ctrTitle"/>
          </p:nvPr>
        </p:nvSpPr>
        <p:spPr>
          <a:xfrm>
            <a:off x="311700" y="497950"/>
            <a:ext cx="85206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Testing Activity</a:t>
            </a:r>
            <a:endParaRPr/>
          </a:p>
        </p:txBody>
      </p:sp>
      <p:sp>
        <p:nvSpPr>
          <p:cNvPr id="205" name="Google Shape;205;p23"/>
          <p:cNvSpPr txBox="1"/>
          <p:nvPr>
            <p:ph idx="1" type="subTitle"/>
          </p:nvPr>
        </p:nvSpPr>
        <p:spPr>
          <a:xfrm>
            <a:off x="311700" y="1851250"/>
            <a:ext cx="85206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Review questions: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is a common failure mode when using Postman for API testing? How do we avoid it?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are the common hallucinations of AI when creating new collections and test scripts?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6" name="Google Shape;2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participating</a:t>
            </a:r>
            <a:endParaRPr/>
          </a:p>
        </p:txBody>
      </p:sp>
      <p:sp>
        <p:nvSpPr>
          <p:cNvPr id="218" name="Google Shape;2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